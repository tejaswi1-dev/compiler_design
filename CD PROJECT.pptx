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9" r:id="rId5"/>
    <p:sldId id="257" r:id="rId6"/>
    <p:sldId id="270" r:id="rId7"/>
    <p:sldId id="271" r:id="rId8"/>
    <p:sldId id="272" r:id="rId9"/>
    <p:sldId id="273" r:id="rId10"/>
    <p:sldId id="278" r:id="rId11"/>
    <p:sldId id="274" r:id="rId12"/>
    <p:sldId id="275" r:id="rId13"/>
    <p:sldId id="276" r:id="rId14"/>
    <p:sldId id="277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 Pasupula" userId="de41807b813eb866" providerId="LiveId" clId="{FD014613-636A-4FD1-A66E-CCED41C8F786}"/>
    <pc:docChg chg="modSld">
      <pc:chgData name="Tejaswi Pasupula" userId="de41807b813eb866" providerId="LiveId" clId="{FD014613-636A-4FD1-A66E-CCED41C8F786}" dt="2025-10-27T17:31:25.877" v="0" actId="1036"/>
      <pc:docMkLst>
        <pc:docMk/>
      </pc:docMkLst>
      <pc:sldChg chg="modSp mod">
        <pc:chgData name="Tejaswi Pasupula" userId="de41807b813eb866" providerId="LiveId" clId="{FD014613-636A-4FD1-A66E-CCED41C8F786}" dt="2025-10-27T17:31:25.877" v="0" actId="1036"/>
        <pc:sldMkLst>
          <pc:docMk/>
          <pc:sldMk cId="2531116302" sldId="274"/>
        </pc:sldMkLst>
        <pc:picChg chg="mod">
          <ac:chgData name="Tejaswi Pasupula" userId="de41807b813eb866" providerId="LiveId" clId="{FD014613-636A-4FD1-A66E-CCED41C8F786}" dt="2025-10-27T17:31:25.877" v="0" actId="1036"/>
          <ac:picMkLst>
            <pc:docMk/>
            <pc:sldMk cId="2531116302" sldId="274"/>
            <ac:picMk id="5" creationId="{97518832-AB48-088F-A582-BC8E551A209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10/27/2025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10/27/2025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10/27/2025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13F6-10D8-69CD-0233-A62D18F1BC0C}"/>
              </a:ext>
            </a:extLst>
          </p:cNvPr>
          <p:cNvSpPr>
            <a:spLocks noGrp="1"/>
          </p:cNvSpPr>
          <p:nvPr/>
        </p:nvSpPr>
        <p:spPr>
          <a:xfrm>
            <a:off x="1343032" y="230567"/>
            <a:ext cx="9144000" cy="2209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CMR TECHNICAL CAMPUS 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(Sponsored by CMR Technical Education Society, Reg.No: 1128/2007)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UGC AUTONOMOUS</a:t>
            </a:r>
            <a:br>
              <a:rPr lang="en-IN" sz="1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Accredited by NBA&amp; NAAC with ‘A’ Grade Approved by AICTE, New Delhi and JNTU, Hyderabad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Kandlakoya (V), Medchal Road, Hyderabad - 501 401 Ph.No: 9247033440/41;www.cmrtc.ac.in; info@cmrtc.ac.in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F85FF-71C5-308D-A7F0-F70FB656C11D}"/>
              </a:ext>
            </a:extLst>
          </p:cNvPr>
          <p:cNvSpPr>
            <a:spLocks noGrp="1"/>
          </p:cNvSpPr>
          <p:nvPr/>
        </p:nvSpPr>
        <p:spPr>
          <a:xfrm>
            <a:off x="1343032" y="3280516"/>
            <a:ext cx="8305801" cy="22272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3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Regulation:R22 </a:t>
            </a:r>
          </a:p>
          <a:p>
            <a:pPr>
              <a:spcBef>
                <a:spcPts val="0"/>
              </a:spcBef>
            </a:pPr>
            <a:endParaRPr lang="en-US" sz="3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3400" b="1" dirty="0">
                <a:latin typeface="Times New Roman" panose="02020603050405020304" pitchFamily="18" charset="0"/>
                <a:cs typeface="Times New Roman" pitchFamily="18" charset="0"/>
              </a:rPr>
              <a:t>Subject Name: COMPILER DESIGN LAB</a:t>
            </a:r>
          </a:p>
          <a:p>
            <a:pPr>
              <a:spcBef>
                <a:spcPts val="0"/>
              </a:spcBef>
            </a:pPr>
            <a:endParaRPr lang="en-US" sz="3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3400" b="1" dirty="0">
                <a:latin typeface="Times New Roman" panose="02020603050405020304" pitchFamily="18" charset="0"/>
                <a:cs typeface="Times New Roman" pitchFamily="18" charset="0"/>
              </a:rPr>
              <a:t>Topic: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REGION-BASED REGISTER ALLOCATOR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IN" sz="3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IN" sz="3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Subject Code: (</a:t>
            </a:r>
            <a:r>
              <a:rPr lang="en-US" sz="3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22CS704PC</a:t>
            </a:r>
            <a:r>
              <a:rPr lang="en-IN" sz="3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</a:p>
          <a:p>
            <a:pPr>
              <a:spcBef>
                <a:spcPts val="0"/>
              </a:spcBef>
            </a:pPr>
            <a:endParaRPr lang="en-IN" sz="3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endParaRPr lang="en-IN" sz="2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2EB20-3A4E-80A0-6C66-67D84475054A}"/>
              </a:ext>
            </a:extLst>
          </p:cNvPr>
          <p:cNvSpPr txBox="1"/>
          <p:nvPr/>
        </p:nvSpPr>
        <p:spPr>
          <a:xfrm>
            <a:off x="9420232" y="332160"/>
            <a:ext cx="1066800" cy="215395"/>
          </a:xfrm>
          <a:prstGeom prst="rect">
            <a:avLst/>
          </a:prstGeom>
          <a:noFill/>
        </p:spPr>
        <p:txBody>
          <a:bodyPr wrap="square" lIns="91385" tIns="45696" rIns="91385" bIns="4569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Times New Roman" pitchFamily="18" charset="0"/>
                <a:cs typeface="Times New Roman" pitchFamily="18" charset="0"/>
              </a:rPr>
              <a:t>ESTD: 2 0 0 9</a:t>
            </a:r>
            <a:endParaRPr lang="en-IN" sz="800" dirty="0"/>
          </a:p>
        </p:txBody>
      </p:sp>
      <p:pic>
        <p:nvPicPr>
          <p:cNvPr id="5" name="image2.jpeg">
            <a:extLst>
              <a:ext uri="{FF2B5EF4-FFF2-40B4-BE49-F238E27FC236}">
                <a16:creationId xmlns:a16="http://schemas.microsoft.com/office/drawing/2014/main" id="{6FE5EE62-01FB-8A6D-DA36-5E52818F24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9232" y="611557"/>
            <a:ext cx="1314450" cy="1219200"/>
          </a:xfrm>
          <a:prstGeom prst="rect">
            <a:avLst/>
          </a:prstGeom>
        </p:spPr>
      </p:pic>
      <p:pic>
        <p:nvPicPr>
          <p:cNvPr id="6" name="image1.jpeg">
            <a:extLst>
              <a:ext uri="{FF2B5EF4-FFF2-40B4-BE49-F238E27FC236}">
                <a16:creationId xmlns:a16="http://schemas.microsoft.com/office/drawing/2014/main" id="{632E73AC-946B-25C0-52FF-96FF4B77AE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7663" y="701443"/>
            <a:ext cx="1085850" cy="10837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C5E0A42-768C-9D23-3662-0E86A88B1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45" y="332160"/>
            <a:ext cx="184619" cy="369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385" tIns="45696" rIns="91385" bIns="45696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8C2D2A-D66A-6878-E9A3-7C2926379A5A}"/>
              </a:ext>
            </a:extLst>
          </p:cNvPr>
          <p:cNvGrpSpPr>
            <a:grpSpLocks/>
          </p:cNvGrpSpPr>
          <p:nvPr/>
        </p:nvGrpSpPr>
        <p:grpSpPr bwMode="auto">
          <a:xfrm>
            <a:off x="1435354" y="332084"/>
            <a:ext cx="7162800" cy="27517"/>
            <a:chOff x="0" y="0"/>
            <a:chExt cx="11280" cy="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335859-79F2-B76F-C578-636749658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280" cy="3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19FAF8B-8FF1-4986-6C34-F5B407230143}"/>
              </a:ext>
            </a:extLst>
          </p:cNvPr>
          <p:cNvGrpSpPr>
            <a:grpSpLocks/>
          </p:cNvGrpSpPr>
          <p:nvPr/>
        </p:nvGrpSpPr>
        <p:grpSpPr bwMode="auto">
          <a:xfrm>
            <a:off x="1343032" y="2440367"/>
            <a:ext cx="9144000" cy="60959"/>
            <a:chOff x="0" y="0"/>
            <a:chExt cx="11280" cy="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1E2AD-BDBF-1678-C9D8-A37B090C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280" cy="3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9FAA14A2-E1CF-E453-1EDA-29A78C524B29}"/>
              </a:ext>
            </a:extLst>
          </p:cNvPr>
          <p:cNvSpPr txBox="1">
            <a:spLocks/>
          </p:cNvSpPr>
          <p:nvPr/>
        </p:nvSpPr>
        <p:spPr>
          <a:xfrm>
            <a:off x="1800232" y="2643557"/>
            <a:ext cx="8534400" cy="812800"/>
          </a:xfrm>
          <a:prstGeom prst="rect">
            <a:avLst/>
          </a:prstGeom>
        </p:spPr>
        <p:txBody>
          <a:bodyPr vert="horz" lIns="91385" tIns="45696" rIns="91385" bIns="45696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3200" b="1" dirty="0">
                <a:latin typeface="Times New Roman" pitchFamily="18" charset="0"/>
                <a:ea typeface="Arial"/>
                <a:cs typeface="Times New Roman" pitchFamily="18" charset="0"/>
              </a:rPr>
              <a:t>COMPUTER SCIENCE AND ENGINEERING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7008C86-17C0-F1F7-81AE-18B3078CB0A8}"/>
              </a:ext>
            </a:extLst>
          </p:cNvPr>
          <p:cNvSpPr txBox="1"/>
          <p:nvPr/>
        </p:nvSpPr>
        <p:spPr>
          <a:xfrm rot="10800000" flipH="1" flipV="1">
            <a:off x="8133800" y="4907595"/>
            <a:ext cx="3872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by-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Tejaswi          227R1A05A7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  227R1A0593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K.Varun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227R1A0594</a:t>
            </a:r>
          </a:p>
        </p:txBody>
      </p:sp>
    </p:spTree>
    <p:extLst>
      <p:ext uri="{BB962C8B-B14F-4D97-AF65-F5344CB8AC3E}">
        <p14:creationId xmlns:p14="http://schemas.microsoft.com/office/powerpoint/2010/main" val="172083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Allocation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IR Format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Output(Different Visualizations)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B517-4EFE-8E7D-1A56-26DBD4A43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44FBD-E7E7-CBFE-AAAF-9C09B86B7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advanced register allocator using region partitioning and graph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optimizing register usage across a program’s control-flow graph.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an intermediate representation (IR) file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basic blocks and a CFG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liveness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program into regions (SCCs)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registers per region using graph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interference and register pressure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7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2A56-F302-F6E5-CE40-B4359941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 Allocation &amp; Region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AF69E-A8C6-368F-4CB0-02F108D1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97563"/>
            <a:ext cx="9982200" cy="457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allocation assigns program variables to a limited number of CPU registers to minimize memory access.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physical registers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may interfere (live at the same time)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minimize spills (storing to memory)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large functions into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(groups of connected basic blocks) and perform allocation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region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the whole function.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scalable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local optimization within hot regions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Implementation: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= Strongly Connected Components (SCCs) in the CFG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region has its own interference graph and coloring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07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DDCD-E3B4-B925-5ED3-8D3476B0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8731D2-FA53-02A6-D54C-C00248E4F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057" y="1581539"/>
            <a:ext cx="685800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566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C9D8-A9D6-3D74-5A07-05582640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IR Format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0713-1D1D-43DD-5E79-3F6009B47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50910"/>
            <a:ext cx="9982200" cy="457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pPr marL="0" indent="0">
              <a:buNone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0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L1: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temp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L2</a:t>
            </a:r>
          </a:p>
          <a:p>
            <a:pPr marL="0" indent="0">
              <a:buNone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L3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L2: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sum +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</a:p>
          <a:p>
            <a:pPr marL="0" indent="0">
              <a:buNone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L3: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sum</a:t>
            </a: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3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50DA-9EDD-C366-5760-C83D4C403A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----- Stats &amp; Outputs -----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print("\n=== Allocation Summary ===")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ridx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alloc_by_region.items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print(f"\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nRegion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ridx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blocks {regions[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ridx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]}:")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v, r in sorted(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alloc.items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print(f"  {v:8} -&gt; {r or 'SPILLED'}")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nGlobally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spilled vars:", sorted(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globally_spilled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print("\n=== Allocated (conceptual) code ===")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 in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allocated_lines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F9E77-A9B1-40C3-7251-87A7817725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----- Register pressure per block (live count) plot -----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= [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live_in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[b]) +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live_out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[b]) for b in range(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=(6,3))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(range(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pressure, marker='o')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("Block id")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register pressure 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in+out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)")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("Register pressure per block 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in+out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)")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plt.grid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(True)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plt.tight_layout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("register_pressure.png", dpi=150)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nSaved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region_*.png and register_pressure.png")</a:t>
            </a:r>
          </a:p>
        </p:txBody>
      </p:sp>
    </p:spTree>
    <p:extLst>
      <p:ext uri="{BB962C8B-B14F-4D97-AF65-F5344CB8AC3E}">
        <p14:creationId xmlns:p14="http://schemas.microsoft.com/office/powerpoint/2010/main" val="104834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D764-AE3F-5144-825E-35630D46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CFG, Liveness Analysis, Graph Colouring, Pressure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518832-AB48-088F-A582-BC8E551A2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2066612"/>
            <a:ext cx="3657917" cy="27434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BD2D2-4F8D-CB70-2CB4-E96799A4D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15" y="1763487"/>
            <a:ext cx="2936191" cy="2202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3540E-7FDE-7DC2-14E9-006E3C83E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600" y="2057281"/>
            <a:ext cx="3657917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1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CAF87-A7D3-53AE-C2EF-C8A46156F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38" y="1404019"/>
            <a:ext cx="5486876" cy="2743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0DED44-001B-D0D0-7A07-70A705EF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11" y="1337190"/>
            <a:ext cx="5935151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1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388C67-3112-5D15-6A1E-4AFE9B791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048" y="860611"/>
            <a:ext cx="4839375" cy="4782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E10E6C-CC19-B3E6-187A-5B8CE6B9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375" y="2575349"/>
            <a:ext cx="386769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6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93E6-8005-AAAE-E8BC-23156EAF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FE9DB-6502-3B54-7071-0B794289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the design and implementation of a Region-Based Register Allocator — an advanced compiler optimization technique that efficiently assigns variables to a limited number of registers using control-flow graph (CFG) analysis, liveness computation, and graph coloring.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dividing the program into regions (strongly connected components), the allocator performs localized optimization, reducing register conflicts and improving scalability for medium and large programs.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visualizations — including interference graphs and register pressure plots — provides valuable insight into the allocation process and program behavior.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simulates a realistic compiler backend stage and serves as a practical example of how region-based register allocation enhances performance over traditional global allocation methods.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13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6045-324A-1BE3-988D-4BB5F5902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201" y="2716764"/>
            <a:ext cx="4045598" cy="109696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567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70</TotalTime>
  <Words>728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Euphemia</vt:lpstr>
      <vt:lpstr>Plantagenet Cherokee</vt:lpstr>
      <vt:lpstr>Times New Roman</vt:lpstr>
      <vt:lpstr>Wingdings</vt:lpstr>
      <vt:lpstr>Academic Literature 16x9</vt:lpstr>
      <vt:lpstr>PowerPoint Presentation</vt:lpstr>
      <vt:lpstr>AGENDA</vt:lpstr>
      <vt:lpstr>Introduction</vt:lpstr>
      <vt:lpstr>Resource Allocation &amp; Region allocation</vt:lpstr>
      <vt:lpstr>System Architecture</vt:lpstr>
      <vt:lpstr>Input IR Format </vt:lpstr>
      <vt:lpstr>PowerPoint Presentation</vt:lpstr>
      <vt:lpstr>CFG, Liveness Analysis, Graph Colouring, Pressure Analysis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 Pasupula</dc:creator>
  <cp:lastModifiedBy>Tejaswi Pasupula</cp:lastModifiedBy>
  <cp:revision>1</cp:revision>
  <dcterms:created xsi:type="dcterms:W3CDTF">2025-10-27T15:36:34Z</dcterms:created>
  <dcterms:modified xsi:type="dcterms:W3CDTF">2025-10-27T17:31:36Z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